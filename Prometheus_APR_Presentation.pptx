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73" r:id="rId9"/>
    <p:sldId id="263" r:id="rId10"/>
    <p:sldId id="264" r:id="rId11"/>
    <p:sldId id="265" r:id="rId12"/>
    <p:sldId id="277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53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02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D8C62-764F-8A01-7DEB-B5878CCA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BEE61-0354-F24F-03DD-2B873CA1A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7BB13-25CB-F851-7043-83461D862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B5E88-56AD-62CB-D94F-F8ED7C6447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7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676A-0A0C-885D-128A-6004DD65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F21C0-FA6D-EA7C-D548-ADB5F050C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7B2B1-3D9E-5567-A0B7-F9A538D58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D3264-A254-5E79-E51E-A6D30236B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49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E50E-82D2-571C-4316-F31E7FBF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05241-5902-3952-BA9D-87568794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25DA9-79F7-96B6-63AE-B80798E44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30449-135F-87A2-C05B-713D6FA44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60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Prometheus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Intent Gap in Agentic Program Repair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Reverse-Engineered Executable Specifications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90672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1868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Yongchao Wang &amp; Zhiqiu Huang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University of Aeronautics and Astronautics  ·  April 2026  ·  arXiv:2604.17464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1330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93.97%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645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Patch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41330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74.4%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4645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41330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4645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Bugs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41330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0" y="4645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SOTA on hard bugs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D8A07-5F7A-FFAB-92E3-B32862CF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61FE79-0CFB-E479-6299-E3008B657C5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1104CC-7EAE-F664-58F8-2009376D1E9A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28AC71-34E8-A3A0-7B5B-6B630F0FB5F4}"/>
              </a:ext>
            </a:extLst>
          </p:cNvPr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Prometheus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E3772A4-1174-D217-FAB8-EF09B1CE7FD9}"/>
              </a:ext>
            </a:extLst>
          </p:cNvPr>
          <p:cNvSpPr/>
          <p:nvPr/>
        </p:nvSpPr>
        <p:spPr>
          <a:xfrm>
            <a:off x="548640" y="1741714"/>
            <a:ext cx="8046720" cy="1230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clarity of intent </a:t>
            </a: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to fix) 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often more critical than the perfection of the tooling </a:t>
            </a: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to verify).</a:t>
            </a:r>
          </a:p>
          <a:p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succeeds not just because it builds tests, but because it forces the model to articulate and internalize the precise boundaries of the bug before writing a single line of code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3EC4A4-D8A4-196B-6136-918C182C9E2E}"/>
              </a:ext>
            </a:extLst>
          </p:cNvPr>
          <p:cNvSpPr/>
          <p:nvPr/>
        </p:nvSpPr>
        <p:spPr>
          <a:xfrm>
            <a:off x="548640" y="3090672"/>
            <a:ext cx="41148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223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874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The Intent Gap in APR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76856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414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4414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— APR Evolution &amp; Key Concepts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083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300837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Prometheus Framework — Architecture &amp; Three Agents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10712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7530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35753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RQA Loop — Specification Validation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4223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41422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Formulas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544568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8745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68112" y="18745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680 Defects4J Bugs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2276856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414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68112" y="24414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Case Studies — Four Deep Dives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2843784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0083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68112" y="300837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Limitations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3410712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57530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68112" y="35753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SOTA &amp; Conclusions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0" y="3977640"/>
            <a:ext cx="44348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8988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capable agents still produce wrong fixes?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Paradox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increasingly proficient at generating code — but they remain remarkably fragile in understanding what code is intended to do. A generated patch may pass all tests yet violate the developer's original design intent.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2606040" cy="175564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735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822192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prescriptive.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boundary conditions ambiguous.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127248"/>
            <a:ext cx="2606040" cy="175564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2735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Sampling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3822192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— expensive to generate,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outcomes.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3127248"/>
            <a:ext cx="2606040" cy="1755648"/>
          </a:xfrm>
          <a:prstGeom prst="rect">
            <a:avLst/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2735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822192"/>
            <a:ext cx="2331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pattern-matching from training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rather than deterministic logic.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97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Gap = distance between "what makes tests pass" and "what the developer intended"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 Evolution — Three Generations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606040" cy="315468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Search-Based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8529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GenProg, RSRepair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310128"/>
            <a:ext cx="2331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4290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mutation + test runs. Dumb, slow, no understanding.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06040" cy="315468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423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Translation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8529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AlphaRepair, SequenceR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3310128"/>
            <a:ext cx="2331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4290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fix as machine translation. Faster, smarter, but still pattern-matching.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828800"/>
            <a:ext cx="2606040" cy="3154680"/>
          </a:xfrm>
          <a:prstGeom prst="rect">
            <a:avLst/>
          </a:prstGeom>
          <a:solidFill>
            <a:srgbClr val="111111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9385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3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42316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Workflows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8529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RepairAgent, TSAPR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310128"/>
            <a:ext cx="2331720" cy="0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4290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tools + autonomous planning. Human-like debugging loop.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63240" y="3401568"/>
            <a:ext cx="2286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97880" y="3401568"/>
            <a:ext cx="2286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BDD &amp; Gherkin — Executable Intent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Behavior-Driven Development (BDD)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Dan North, 2006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requirements as executable scenarios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/ When / Then 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human-readable and machine-executable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(not just descriptive)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528064"/>
            <a:ext cx="4206240" cy="31546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example — Mockito-5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2240280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VerificationOverTimeImpl
  should not depend on JUnit
</a:t>
            </a:r>
            <a:r>
              <a:rPr lang="en-US" sz="11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Loading without JUnit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</a:t>
            </a: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loader excluding junit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</a:t>
            </a: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load VerificationOverTimeImpl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 </a:t>
            </a: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loads successfully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 </a:t>
            </a: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NoClassDefFoundError thrown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Gherkin transforms repair from a stochastic patch search into a deterministic contract satisfaction problem.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HYPOTHESIS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Intent-Behavior Mirroring Effect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72768"/>
            <a:ext cx="640080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423160"/>
            <a:ext cx="3840480" cy="2286000"/>
          </a:xfrm>
          <a:prstGeom prst="rect">
            <a:avLst/>
          </a:prstGeom>
          <a:solidFill>
            <a:srgbClr val="FAFA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542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Berserker-Style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9260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/ vague requirement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rewrites entire methods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Touches code beyond the defect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Introduces regressions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Fails semantic correctness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2423160"/>
            <a:ext cx="3840480" cy="228600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2542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Surgical-Style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83480" y="29260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BDD specification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modifies exactly one thing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Respects adjacent logic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Satisfies all invariants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Formally aligned with intent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Gemini-3.0-Pro (Architect) writes the spec → Qwen-3.0-Coder (Fixer) operates within it — separation of concerns is the key.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DC68B-832E-4817-09DF-4F1E27973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678"/>
            <a:ext cx="9144000" cy="37481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0510C9-0B89-5152-6200-318393030FFB}"/>
              </a:ext>
            </a:extLst>
          </p:cNvPr>
          <p:cNvSpPr txBox="1"/>
          <p:nvPr/>
        </p:nvSpPr>
        <p:spPr>
          <a:xfrm>
            <a:off x="0" y="4090403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Phase 1: </a:t>
            </a:r>
            <a:r>
              <a:rPr lang="en-US" sz="1400" dirty="0"/>
              <a:t>The Architect (Gemini-3.0-Pro) performs root cause analysis and synthesizes a Gherkin specification S. </a:t>
            </a:r>
          </a:p>
          <a:p>
            <a:r>
              <a:rPr lang="en-US" sz="1400" b="1" dirty="0"/>
              <a:t>Phase 2: </a:t>
            </a:r>
            <a:r>
              <a:rPr lang="en-US" sz="1400" dirty="0"/>
              <a:t>The Engineer validates S through Sandwich Verification—S must fail on </a:t>
            </a:r>
            <a:r>
              <a:rPr lang="en-US" sz="1400" dirty="0" err="1"/>
              <a:t>Cbuggy</a:t>
            </a:r>
            <a:r>
              <a:rPr lang="en-US" sz="1400" dirty="0"/>
              <a:t> and pass on </a:t>
            </a:r>
            <a:r>
              <a:rPr lang="en-US" sz="1400" dirty="0" err="1"/>
              <a:t>Cfixed</a:t>
            </a:r>
            <a:r>
              <a:rPr lang="en-US" sz="1400" dirty="0"/>
              <a:t> (or human 	review in production). If verification fails, S is regenerated. </a:t>
            </a:r>
          </a:p>
          <a:p>
            <a:r>
              <a:rPr lang="en-US" sz="1400" b="1" dirty="0"/>
              <a:t>Phase 3: </a:t>
            </a:r>
            <a:r>
              <a:rPr lang="en-US" sz="1400" dirty="0"/>
              <a:t>The Fixer (Qwen-3.0-Coder) performs a specification-guided surgical repair, producing patch P.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A8BE6-06DA-5B3F-BA89-CF96FEDAD617}"/>
              </a:ext>
            </a:extLst>
          </p:cNvPr>
          <p:cNvSpPr txBox="1"/>
          <p:nvPr/>
        </p:nvSpPr>
        <p:spPr>
          <a:xfrm>
            <a:off x="0" y="3134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 — Three-Phase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045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 — Specification Inference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81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Gemini-3.0-Pro  ·  Reasoning specialist  ·  Produces .feature 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Cognitive Process (Chain-of-Thought)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4023360" cy="21762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23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Root Cause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852928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execution failure. Identify the specific logical discrepancy between expected and actual behavior. Never write Gherkin until diagnosis is complete.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304288"/>
            <a:ext cx="4023360" cy="2176272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4231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Specification Synthesis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852928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intended behavior into Given / When / Then scenarios. Capture both functional requirements and architectural constraints (e.g., JUnit independence in Mockito-5).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383280"/>
            <a:ext cx="27432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 over prior work: Grounds inference in deterministic runtime data (stack traces, assertion errors) — not ambiguous natural language issue descriptions.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7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94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Engineer — Oracle-Guided RQA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36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spec is wrong, the repair will be a correct implementation of the wrong requirement.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Sandwich Verification — Two conditions, both must hold: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4023360" cy="242316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14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Verification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spec S on C_buggy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3108960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703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MUST FAIL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Confirms spec captures the defect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2395728"/>
            <a:ext cx="4023360" cy="242316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514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Positive Verification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83480" y="2880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spec S on C_fixed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00400"/>
            <a:ext cx="3108960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83480" y="3703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MUST PASS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Confirms spec aligns with developer intent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80560" y="3611880"/>
            <a:ext cx="27432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In experiment, C_fixed (ground truth) serves as oracle. In production, replaced by (a) human review of Gherkin scenarios, (b) existing BDD test suites, or (c) negative-only verification.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 — Formulas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Rate  (= Correct Patch Rate)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0280"/>
            <a:ext cx="59436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62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validated by comparing agent patch against Defects4J developer ground-truth.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Rescue Rate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58768"/>
            <a:ext cx="7315200" cy="7498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methodology: Blind Fixer on all 680 → 520 success. Enlightened Fixer on the 160 failures → 119 rescued. Total = 639.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FEF6E-185F-53FF-A2A1-00BC93F26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14EC80-2090-C298-C509-1D50088BC421}"/>
              </a:ext>
            </a:extLst>
          </p:cNvPr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2B6CF9-F93B-B628-A6E2-F1DEF9018867}"/>
              </a:ext>
            </a:extLst>
          </p:cNvPr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7257D3-7A6C-33D3-7289-C065DE6B1420}"/>
              </a:ext>
            </a:extLst>
          </p:cNvPr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A77A114-550E-F458-112A-720D1CBC26A4}"/>
              </a:ext>
            </a:extLst>
          </p:cNvPr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methodology: Blind Fixer on all 680 → 520 success. Enlightened Fixer on the 160 failures → 119 rescued. Total = 639.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B6140C-28BD-23B2-B41A-3699867F35DF}"/>
              </a:ext>
            </a:extLst>
          </p:cNvPr>
          <p:cNvSpPr txBox="1"/>
          <p:nvPr/>
        </p:nvSpPr>
        <p:spPr>
          <a:xfrm>
            <a:off x="457199" y="1665514"/>
            <a:ext cx="3788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RQ1 (Effectiveness)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RQ2 (Rescue Capability)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RQ3 (Quality &amp; Interpretability)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RQ4 (Cost &amp; Efficiency)</a:t>
            </a:r>
          </a:p>
        </p:txBody>
      </p:sp>
    </p:spTree>
    <p:extLst>
      <p:ext uri="{BB962C8B-B14F-4D97-AF65-F5344CB8AC3E}">
        <p14:creationId xmlns:p14="http://schemas.microsoft.com/office/powerpoint/2010/main" val="1500599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488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RQ1 &amp; RQ2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 — 680 Defects4J Bugs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44752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fix rate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639 / 680 bugs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93.97%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0" y="1444752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baseline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/ 680 bugs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76.5%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09160" y="1444752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rate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/ 160 hard bugs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74.4%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58000" y="1444752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TSAPR &amp; RepairAgent</a:t>
            </a:r>
            <a:endParaRPr lang="en-US" sz="900" dirty="0"/>
          </a:p>
          <a:p>
            <a:pPr marL="0" indent="0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hard bugs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4.4×</a:t>
            </a:r>
            <a:endParaRPr lang="en-US" sz="22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937" y="2484555"/>
            <a:ext cx="4572000" cy="566928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168886"/>
              </p:ext>
            </p:extLst>
          </p:nvPr>
        </p:nvGraphicFramePr>
        <p:xfrm>
          <a:off x="1915668" y="3039726"/>
          <a:ext cx="5312664" cy="2057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Project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Bugs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Blind ✓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Blind ✗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Rescued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Cli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JacksonCore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Mockito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Math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106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58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87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82.1%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Compress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47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43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91.5%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Jsoup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93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59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84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</a:rPr>
                        <a:t>90.3%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1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520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160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119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639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93.97%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Case Studies — Four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74520"/>
            <a:ext cx="4160520" cy="1444752"/>
          </a:xfrm>
          <a:prstGeom prst="rect">
            <a:avLst/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659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Chart-13  —  Curing Hallucination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5000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agent invented a non-existent variable 'constraint' by copying from a sibling method. BDD spec named the exact objects → agent created correct RectangleConstraint instead.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4160520" cy="1444752"/>
          </a:xfrm>
          <a:prstGeom prst="rect">
            <a:avLst/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9659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Chart-7  —  Preventing Over-Simplification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35000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agent removed a conditional check as a shortcut fix. BDD spec included an edge-case scenario → agent restored the guard and prevented regression.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4160520" cy="1444752"/>
          </a:xfrm>
          <a:prstGeom prst="rect">
            <a:avLst/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20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JxPath-6  —  Surpassing Ground Truth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0448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agent failed entirely. BDD required arrays treated like Collections → agent added isArray() check. Developer's fix missed arrays — agent's fix was more complete.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429000"/>
            <a:ext cx="4160520" cy="1444752"/>
          </a:xfrm>
          <a:prstGeom prst="rect">
            <a:avLst/>
          </a:prstGeom>
          <a:solidFill>
            <a:srgbClr val="F9F9F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520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Mockito-5  —  Architectural Integrity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90448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agent deleted the catch block, leaving assertion errors unhandled. BDD stated 'must not depend on JUnit' → agent used Java Reflection for conditional exception handling.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50017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Explicit specification prevents hallucination, lazy shortcuts, scope creep, and architectural violations.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RQ4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Analysis — The Price of Thinking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10512"/>
          <a:ext cx="6858000" cy="157277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4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Agent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Avg Time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Avg Turns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Avg Tokens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Cost %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Architect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Intent Inference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136.77s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24.26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372,107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6.4%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Engineer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RQA Verification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671.67s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70.23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3,365,986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58.2%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Fixer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Enlightened Repair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452.64s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44.91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2,044,348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35.4%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1,261.08s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139.4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5,782,441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7498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224528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costs only 6.4% — reasoning is cheap relative to coding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(58.2%) is expensive due to 'Digital Archaeology': legacy JDK versions, non-standard build layouts, multi-round Cucumber execution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per-defect Engineer cost drops ~60% once test harness is set up once per project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Serendipitous finding (Math-21): even when Cucumber fails to compile, the Gherkin text alone acts as a Cognitive Scaffold — agent still produces a correct patch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13369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— Where Prometheus Breaks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874520"/>
            <a:ext cx="54864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74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 Oracle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13055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RQA Loop uses C_fixed (developer's ground truth fix) to validate specs. In real deployment, C_fixed does not exist before the repair. Result: 93.97% measures the theoretical upper bound, not production performance.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54864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68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Constraint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7249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restricted to one file to isolate BDD effect from fault localization. Multi-file bugs (e.g., Time-1) cause 'Cognitive Dissonance Hallucination' — agent knows what to do but cannot access the required file, producing irrational code with reasoning degradation (typos in comments).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54864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Protocol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3192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cannot capture low-level wire format changes (e.g., Collections-8: extra int in serialization buffer). Specifications describe API-level behavior; sub-API binary protocols are invisible.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54864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Capability Ceiling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9136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spec does not guarantee correct implementation. Math-69: standard Fixer applied a heuristic clamp; only Gemini-3.0-Pro derived the rigorous Beta function solution. Performance scales with Fixer's reasoning depth.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251960"/>
            <a:ext cx="54864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2519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Excluded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50799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project excluded — legacy build incompatibility + excessive test suite overhead on the RQA Loop. Affects comparability with papers using full Defects4J.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00891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State-of-the-Art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6390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4"/>
          <p:cNvSpPr/>
          <p:nvPr/>
        </p:nvSpPr>
        <p:spPr>
          <a:xfrm>
            <a:off x="457200" y="1237705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Search-strategy approaches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46320" y="1237705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Problem-definition approach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1557745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TSAPR/RepairAgent optimize how to search (better needle-finding strategy)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harder at traversing the same incorrect search 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simple bugs, search strategy is sufficient — and they do well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1557745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narrows what to search for (redefine the problem)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 BDD contract transforms unbounded search into constraint satisfaction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hard bugs requiring domain reasoning, intent definition is the bottleneck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0" y="1163900"/>
            <a:ext cx="0" cy="301752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50" y="4334255"/>
            <a:ext cx="77724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3681DC6A-DBAF-205D-C94C-54A9B66EB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69747"/>
              </p:ext>
            </p:extLst>
          </p:nvPr>
        </p:nvGraphicFramePr>
        <p:xfrm>
          <a:off x="822959" y="1968573"/>
          <a:ext cx="7498080" cy="171907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System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Approach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Full D4J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Our 680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Hard 160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55555"/>
                          </a:solidFill>
                        </a:rPr>
                        <a:t>Key Differentiator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TSAPR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Monte Carlo Tree Search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201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173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Optimizes search trajectory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RepairAgent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Autonomous debug tools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164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137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Mimics human debugging workflow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Prometheus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BDD Spec Inference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639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119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Narrows search space via intent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05394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0108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77ADD-858E-5A49-D6EB-00267510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538821-FB20-340B-6AAA-A6899EF8F142}"/>
              </a:ext>
            </a:extLst>
          </p:cNvPr>
          <p:cNvSpPr/>
          <p:nvPr/>
        </p:nvSpPr>
        <p:spPr>
          <a:xfrm>
            <a:off x="457200" y="1920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BB33F5-C5B4-1C63-2889-B1E9364DF7D9}"/>
              </a:ext>
            </a:extLst>
          </p:cNvPr>
          <p:cNvSpPr/>
          <p:nvPr/>
        </p:nvSpPr>
        <p:spPr>
          <a:xfrm>
            <a:off x="457200" y="513369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to Validity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DF4193-F268-CD91-9BB2-1DBBAF0215AB}"/>
              </a:ext>
            </a:extLst>
          </p:cNvPr>
          <p:cNvSpPr/>
          <p:nvPr/>
        </p:nvSpPr>
        <p:spPr>
          <a:xfrm>
            <a:off x="457200" y="135331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91FA0CA-3AD1-B766-056D-F8D5CCFBA53E}"/>
              </a:ext>
            </a:extLst>
          </p:cNvPr>
          <p:cNvSpPr/>
          <p:nvPr/>
        </p:nvSpPr>
        <p:spPr>
          <a:xfrm>
            <a:off x="365760" y="1874519"/>
            <a:ext cx="54864" cy="1031313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0FF610-A79D-1B65-B0BF-6663AB7F433A}"/>
              </a:ext>
            </a:extLst>
          </p:cNvPr>
          <p:cNvSpPr/>
          <p:nvPr/>
        </p:nvSpPr>
        <p:spPr>
          <a:xfrm>
            <a:off x="566928" y="1874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 Oracle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26B054-BD29-5323-5CA5-AF2E417B3D16}"/>
              </a:ext>
            </a:extLst>
          </p:cNvPr>
          <p:cNvSpPr/>
          <p:nvPr/>
        </p:nvSpPr>
        <p:spPr>
          <a:xfrm>
            <a:off x="596537" y="2123368"/>
            <a:ext cx="8046720" cy="782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real-world scenario, the fixed code does not exist before the repair</a:t>
            </a:r>
          </a:p>
          <a:p>
            <a:pPr marL="228600" indent="-228600">
              <a:buAutoNum type="alphaLcParenR"/>
            </a:pPr>
            <a:r>
              <a:rPr lang="en-US" sz="1000" dirty="0"/>
              <a:t>human-in-the-loop review, where developers review concise Gherkin scenarios (typically &lt;10 lines)—a task significantly less cognitively demanding than reviewing full code patches; </a:t>
            </a:r>
          </a:p>
          <a:p>
            <a:pPr marL="228600" indent="-228600">
              <a:buAutoNum type="alphaLcParenR"/>
            </a:pPr>
            <a:r>
              <a:rPr lang="en-US" sz="1000" dirty="0"/>
              <a:t>projects with existing BDD test suites can supply specifications directly, bypassing automated inference entirely; </a:t>
            </a:r>
          </a:p>
          <a:p>
            <a:pPr marL="228600" indent="-228600">
              <a:buAutoNum type="alphaLcParenR"/>
            </a:pPr>
            <a:r>
              <a:rPr lang="en-US" sz="1000" dirty="0"/>
              <a:t>negative-only verification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DD5DA1C-7858-E283-A56C-41AA023597B2}"/>
              </a:ext>
            </a:extLst>
          </p:cNvPr>
          <p:cNvSpPr/>
          <p:nvPr/>
        </p:nvSpPr>
        <p:spPr>
          <a:xfrm>
            <a:off x="365760" y="3063240"/>
            <a:ext cx="54864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DDABA8-909D-24F0-EFCC-15AF57F6782D}"/>
              </a:ext>
            </a:extLst>
          </p:cNvPr>
          <p:cNvSpPr/>
          <p:nvPr/>
        </p:nvSpPr>
        <p:spPr>
          <a:xfrm>
            <a:off x="566928" y="3063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Scope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026887-B7DA-E2B1-3466-CD0A7A50B434}"/>
              </a:ext>
            </a:extLst>
          </p:cNvPr>
          <p:cNvSpPr/>
          <p:nvPr/>
        </p:nvSpPr>
        <p:spPr>
          <a:xfrm>
            <a:off x="566928" y="33192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Fixer restricted to one file to isolate BDD effect from fault localization. Multi-file bugs (e.g., Time-1) cause 'Cognitive Dissonance Hallucination' — agent knows what to do but cannot access the required file, producing irrational code with reasoning degradation (typos in comments).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496ECE-5A59-8BD2-F88C-8B8A44CD742A}"/>
              </a:ext>
            </a:extLst>
          </p:cNvPr>
          <p:cNvSpPr/>
          <p:nvPr/>
        </p:nvSpPr>
        <p:spPr>
          <a:xfrm>
            <a:off x="365760" y="3657600"/>
            <a:ext cx="54864" cy="43891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DE1957-E4B4-C22D-BEE6-0CBB992DCD0B}"/>
              </a:ext>
            </a:extLst>
          </p:cNvPr>
          <p:cNvSpPr/>
          <p:nvPr/>
        </p:nvSpPr>
        <p:spPr>
          <a:xfrm>
            <a:off x="566928" y="3657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7CE462C-8360-798B-F3F3-70A4053E78A5}"/>
              </a:ext>
            </a:extLst>
          </p:cNvPr>
          <p:cNvSpPr/>
          <p:nvPr/>
        </p:nvSpPr>
        <p:spPr>
          <a:xfrm>
            <a:off x="566928" y="39136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cannot capture low-level wire format changes (e.g., Collections-8: extra int in serialization buffer). Specifications describe API-level behavior; sub-API binary protocols are invisible.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19000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 of the question determines the quality of the answer.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29968"/>
            <a:ext cx="41148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128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Specification-first beats code-first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53288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Inferring intent before generating code reduces hallucination, scope creep, and architectural violations.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986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898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formulation &gt; model 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21868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model with a perfect spec beats a large model with no spec on hard, domain-heavy bugs.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844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584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 have dual nature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90448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serves as both an Executable Contract (for RQA) and a Cognitive Scaffold (for the LLM's reasoning).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7024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2702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E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scales with bug complexity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59028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BDD's marginal utility grows exponentially as algorithmic complexity increases (Math: 45% → 82%).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Detective agent for multi-file fault localization · Immune System of persistent BDD skill libraries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99262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github.com/Nothing256/Prometheus-Unbound  ·  arXiv:2604.17464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1981</Words>
  <Application>Microsoft Office PowerPoint</Application>
  <PresentationFormat>On-screen Show (16:9)</PresentationFormat>
  <Paragraphs>351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Prometheus — Bridging the Intent Gap</dc:title>
  <dc:subject>PptxGenJS Presentation</dc:subject>
  <dc:creator>Research Presentation</dc:creator>
  <cp:lastModifiedBy>samar kumar</cp:lastModifiedBy>
  <cp:revision>3</cp:revision>
  <dcterms:created xsi:type="dcterms:W3CDTF">2026-05-31T10:27:22Z</dcterms:created>
  <dcterms:modified xsi:type="dcterms:W3CDTF">2026-05-31T19:07:32Z</dcterms:modified>
</cp:coreProperties>
</file>